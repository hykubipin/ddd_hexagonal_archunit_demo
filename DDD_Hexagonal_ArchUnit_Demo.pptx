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Domain-Driven Design, Hexagonal Architecture &amp; ArchUnit</a:t>
            </a:r>
          </a:p>
          <a:p>
            <a:pPr>
              <a:spcAft>
                <a:spcPts val="4000"/>
              </a:spcAft>
              <a:defRPr sz="2000">
                <a:solidFill>
                  <a:srgbClr val="319795"/>
                </a:solidFill>
                <a:latin typeface="Arial"/>
              </a:defRPr>
            </a:pPr>
            <a:r>
              <a:t>Decoupling Business Core from Infrastructure for Maximum Maintainability</a:t>
            </a:r>
            <a:br/>
            <a:r>
              <a:t>(Simulated Oracle DB Migration Demo)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Satellite Domain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Domain-Driven Design (DDD)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19795"/>
                </a:solidFill>
                <a:latin typeface="Arial"/>
              </a:defRPr>
            </a:pPr>
            <a:r>
              <a:t>Structuring clean code around real-world business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365D"/>
                </a:solidFill>
                <a:latin typeface="Arial"/>
              </a:defRPr>
            </a:pPr>
            <a:r>
              <a:t>Core Philosophy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Aligns software design with business rules and processes.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Crucial for avoiding the 'Anemic Domain Model' where objects are just getter/setter data holders with zero logic.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Keeps the core logic pure, testable, and completely independent of databases, HTTP APIs, and UI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5760720" cy="1371600"/>
          </a:xfrm>
          <a:prstGeom prst="roundRect">
            <a:avLst/>
          </a:prstGeom>
          <a:solidFill>
            <a:srgbClr val="E6FFFA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1A365D"/>
                </a:solidFill>
                <a:latin typeface="Arial"/>
              </a:defRPr>
            </a:pPr>
            <a:r>
              <a:t>Aggregate Root (Satellite)</a:t>
            </a:r>
          </a:p>
          <a:p>
            <a:pPr>
              <a:defRPr sz="1200">
                <a:solidFill>
                  <a:srgbClr val="2D3748"/>
                </a:solidFill>
                <a:latin typeface="Arial"/>
              </a:defRPr>
            </a:pPr>
            <a:r>
              <a:t>The gatekeeper entity. Controls state mutations and validates invariants (e.g. decommissioned satellites can't receive telemetry).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200400"/>
            <a:ext cx="5760720" cy="1371600"/>
          </a:xfrm>
          <a:prstGeom prst="roundRect">
            <a:avLst/>
          </a:prstGeom>
          <a:solidFill>
            <a:srgbClr val="E6FFFA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1A365D"/>
                </a:solidFill>
                <a:latin typeface="Arial"/>
              </a:defRPr>
            </a:pPr>
            <a:r>
              <a:t>Value Objects (Orbit, Telemetry, SatelliteId)</a:t>
            </a:r>
          </a:p>
          <a:p>
            <a:pPr>
              <a:defRPr sz="1200">
                <a:solidFill>
                  <a:srgbClr val="2D3748"/>
                </a:solidFill>
                <a:latin typeface="Arial"/>
              </a:defRPr>
            </a:pPr>
            <a:r>
              <a:t>Immutable components. Enforce their own validation upon instantiation (e.g., coordinates range bounds) and are compared by attribute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754880"/>
            <a:ext cx="5760720" cy="1371600"/>
          </a:xfrm>
          <a:prstGeom prst="roundRect">
            <a:avLst/>
          </a:prstGeom>
          <a:solidFill>
            <a:srgbClr val="E6FFFA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1A365D"/>
                </a:solidFill>
                <a:latin typeface="Arial"/>
              </a:defRPr>
            </a:pPr>
            <a:r>
              <a:t>Domain Service (CollisionRiskService)</a:t>
            </a:r>
          </a:p>
          <a:p>
            <a:pPr>
              <a:defRPr sz="1200">
                <a:solidFill>
                  <a:srgbClr val="2D3748"/>
                </a:solidFill>
                <a:latin typeface="Arial"/>
              </a:defRPr>
            </a:pPr>
            <a:r>
              <a:t>Encapsulates business operations that span across multiple aggregates (e.g., determining collision risks between orbits).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Hexagonal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19795"/>
                </a:solidFill>
                <a:latin typeface="Arial"/>
              </a:defRPr>
            </a:pPr>
            <a:r>
              <a:t>Separating the application core from technology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Hexagonal (Ports &amp; Adapters) isolates business logic inside the hexagon and exposes it through Input/Output Ports. Technology details plug in externally as Adapters.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3474720" cy="3931920"/>
          </a:xfrm>
          <a:prstGeom prst="rect">
            <a:avLst/>
          </a:prstGeom>
          <a:solidFill>
            <a:srgbClr val="F7FAFC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A365D"/>
                </a:solidFill>
                <a:latin typeface="Arial"/>
              </a:defRPr>
            </a:pPr>
            <a:r>
              <a:t>Driving (Input) Adapters</a:t>
            </a:r>
            <a:br/>
          </a:p>
          <a:p>
            <a:pPr>
              <a:defRPr sz="1300">
                <a:solidFill>
                  <a:srgbClr val="2D3748"/>
                </a:solidFill>
                <a:latin typeface="Arial"/>
              </a:defRPr>
            </a:pPr>
            <a:r>
              <a:t>Triggers use cases inside the core application.</a:t>
            </a:r>
            <a:br/>
            <a:br/>
            <a:r>
              <a:t>• SatelliteConsoleAdapter: Simulates CLI interaction.</a:t>
            </a:r>
            <a:br/>
            <a:r>
              <a:t>• Other possibilities: REST APIs, Event Handlers, Cron timers.</a:t>
            </a:r>
            <a:br/>
            <a:br/>
            <a:r>
              <a:t>They depend only on core use case 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377440"/>
            <a:ext cx="3474720" cy="3931920"/>
          </a:xfrm>
          <a:prstGeom prst="rect">
            <a:avLst/>
          </a:prstGeom>
          <a:solidFill>
            <a:srgbClr val="E6FFFA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A365D"/>
                </a:solidFill>
                <a:latin typeface="Arial"/>
              </a:defRPr>
            </a:pPr>
            <a:r>
              <a:t>Hexagon Core (Ports)</a:t>
            </a:r>
            <a:br/>
          </a:p>
          <a:p>
            <a:pPr>
              <a:defRPr sz="1300">
                <a:solidFill>
                  <a:srgbClr val="2D3748"/>
                </a:solidFill>
                <a:latin typeface="Arial"/>
              </a:defRPr>
            </a:pPr>
            <a:r>
              <a:t>Pure business workflows, interfaces, and entities.</a:t>
            </a:r>
            <a:br/>
            <a:br/>
            <a:r>
              <a:t>• Input Ports: SatelliteApplicationService (coordinates registrations, updates).</a:t>
            </a:r>
            <a:br/>
            <a:r>
              <a:t>• Output Ports: SatelliteRepository (an interface defined by domain).</a:t>
            </a:r>
            <a:br/>
            <a:br/>
            <a:r>
              <a:t>It has zero awareness of database tech or delivery protocols.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377440"/>
            <a:ext cx="3474720" cy="3931920"/>
          </a:xfrm>
          <a:prstGeom prst="rect">
            <a:avLst/>
          </a:prstGeom>
          <a:solidFill>
            <a:srgbClr val="F7FAFC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A365D"/>
                </a:solidFill>
                <a:latin typeface="Arial"/>
              </a:defRPr>
            </a:pPr>
            <a:r>
              <a:t>Driven (Output) Adapters</a:t>
            </a:r>
            <a:br/>
          </a:p>
          <a:p>
            <a:pPr>
              <a:defRPr sz="1300">
                <a:solidFill>
                  <a:srgbClr val="2D3748"/>
                </a:solidFill>
                <a:latin typeface="Arial"/>
              </a:defRPr>
            </a:pPr>
            <a:r>
              <a:t>Implements interfaces (Output Ports) defined in the domain core.</a:t>
            </a:r>
            <a:br/>
            <a:br/>
            <a:r>
              <a:t>• InMemorySatelliteRepository: Simulates rapid, in-memory collection backends.</a:t>
            </a:r>
            <a:br/>
            <a:r>
              <a:t>• OracleSatelliteRepository: Realizes enterprise Oracle storage logs.</a:t>
            </a:r>
            <a:br/>
            <a:br/>
            <a:r>
              <a:t>Swap implementations freely without changing domain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Decoupled Database Switching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19795"/>
                </a:solidFill>
                <a:latin typeface="Arial"/>
              </a:defRPr>
            </a:pPr>
            <a:r>
              <a:t>Switching from default Java In-Memory to Oracle DB seamlessly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365D"/>
                </a:solidFill>
                <a:latin typeface="Arial"/>
              </a:defRPr>
            </a:pPr>
            <a:r>
              <a:t>How the Demo Swaps Databases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Main.java acts as the bootstrap root. It configures and wires the adapters to the ports.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Swapping the database is as simple as instantiating a different class: new OracleSatelliteRepository() instead of new InMemorySatelliteRepository().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The logic runner method (runSimulation) accepts the generic port interface, proving the client code is completely technology-neutral.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365D"/>
                </a:solidFill>
                <a:latin typeface="Arial"/>
              </a:defRPr>
            </a:pPr>
            <a:r>
              <a:t>Output Comparisons (Demo Console Log)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5303520" cy="1645920"/>
          </a:xfrm>
          <a:prstGeom prst="rect">
            <a:avLst/>
          </a:prstGeom>
          <a:solidFill>
            <a:srgbClr val="F7FAFC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>
                <a:solidFill>
                  <a:srgbClr val="2D3748"/>
                </a:solidFill>
                <a:latin typeface="Courier New"/>
              </a:defRPr>
            </a:pPr>
            <a:r>
              <a:t>Default In-Memory DB Output Adapter Logs:</a:t>
            </a:r>
            <a:br/>
            <a:r>
              <a:t>  [IN-MEMORY DB] Saving satellite: ISS (ID: 65aa49...)</a:t>
            </a:r>
            <a:br/>
            <a:r>
              <a:t>  [IN-MEMORY DB] Finding satellite by ID: 65aa49...</a:t>
            </a:r>
            <a:br/>
            <a:r>
              <a:t>  Loaded: ISS | Orbit: 418.0 km | Battery: 95%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114800"/>
            <a:ext cx="5303520" cy="2011680"/>
          </a:xfrm>
          <a:prstGeom prst="rect">
            <a:avLst/>
          </a:prstGeom>
          <a:solidFill>
            <a:srgbClr val="F7FAFC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>
                <a:solidFill>
                  <a:srgbClr val="2D3748"/>
                </a:solidFill>
                <a:latin typeface="Courier New"/>
              </a:defRPr>
            </a:pPr>
            <a:r>
              <a:t>Simulated Oracle DB Output Adapter Logs:</a:t>
            </a:r>
            <a:br/>
            <a:r>
              <a:t>  [ORACLE DB] Connecting to Oracle Instance (SID: XE)...</a:t>
            </a:r>
            <a:br/>
            <a:r>
              <a:t>  [ORACLE DB] EXECUTING SQL MERGE STATEMENT:</a:t>
            </a:r>
            <a:br/>
            <a:r>
              <a:t>  MERGE INTO SATELLITES target USING (...)</a:t>
            </a:r>
            <a:br/>
            <a:r>
              <a:t>  WHEN MATCHED THEN UPDATE SET target.decommissioned = 0...</a:t>
            </a:r>
            <a:br/>
            <a:r>
              <a:t>  [ORACLE DB] Transaction committed.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Enforcing Architecture with ArchUnit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19795"/>
                </a:solidFill>
                <a:latin typeface="Arial"/>
              </a:defRPr>
            </a:pPr>
            <a:r>
              <a:t>Automated tests to prevent architectural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365D"/>
                </a:solidFill>
                <a:latin typeface="Arial"/>
              </a:defRPr>
            </a:pPr>
            <a:r>
              <a:t>Why ArchUnit?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Software architectures (like Hexagonal) erode over time due to accidental cross-imports by developers.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ArchUnit acts as an automated boundary check that fails unit test builds if rules are broken.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It imports and analyzes compiled Java bytecodes dynamically at test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365D"/>
                </a:solidFill>
                <a:latin typeface="Arial"/>
              </a:defRPr>
            </a:pPr>
            <a:r>
              <a:t>Our Architecture Rules Checked</a:t>
            </a:r>
          </a:p>
          <a:p>
            <a:pPr>
              <a:spcAft>
                <a:spcPts val="1000"/>
              </a:spcAft>
              <a:defRPr sz="1400">
                <a:solidFill>
                  <a:srgbClr val="319795"/>
                </a:solidFill>
                <a:latin typeface="Arial"/>
              </a:defRPr>
            </a:pPr>
            <a:r>
              <a:t>✔ Domain layers must not depend on Application or Adapters.</a:t>
            </a:r>
          </a:p>
          <a:p>
            <a:pPr>
              <a:spcAft>
                <a:spcPts val="1000"/>
              </a:spcAft>
              <a:defRPr sz="1400">
                <a:solidFill>
                  <a:srgbClr val="319795"/>
                </a:solidFill>
                <a:latin typeface="Arial"/>
              </a:defRPr>
            </a:pPr>
            <a:r>
              <a:t>✔ Application layer use cases must not access Adapters.</a:t>
            </a:r>
          </a:p>
          <a:p>
            <a:pPr>
              <a:spcAft>
                <a:spcPts val="1000"/>
              </a:spcAft>
              <a:defRPr sz="1400">
                <a:solidFill>
                  <a:srgbClr val="319795"/>
                </a:solidFill>
                <a:latin typeface="Arial"/>
              </a:defRPr>
            </a:pPr>
            <a:r>
              <a:t>✔ Input adapters (driving controllers/CLI) must not import output adapters (driven DB persistence repositories). They must use the interface Ports.</a:t>
            </a:r>
          </a:p>
          <a:p>
            <a:pPr>
              <a:spcAft>
                <a:spcPts val="1000"/>
              </a:spcAft>
              <a:defRPr sz="1400">
                <a:solidFill>
                  <a:srgbClr val="319795"/>
                </a:solidFill>
                <a:latin typeface="Arial"/>
              </a:defRPr>
            </a:pPr>
            <a:r>
              <a:t>✔ No cyclic dependency loops among packages (e.g. A depends on B depends on 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Running the Demo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19795"/>
                </a:solidFill>
                <a:latin typeface="Arial"/>
              </a:defRPr>
            </a:pPr>
            <a:r>
              <a:t>Summary benefits of modularity and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365D"/>
                </a:solidFill>
                <a:latin typeface="Arial"/>
              </a:defRPr>
            </a:pPr>
            <a:r>
              <a:t>How to Run the Demo</a:t>
            </a:r>
          </a:p>
          <a:p>
            <a:pPr>
              <a:spcAft>
                <a:spcPts val="12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1. Open Terminal and navigate to the project directory:</a:t>
            </a:r>
            <a:br/>
            <a:r>
              <a:t>   $ cd .../satellite-ddd-archunit</a:t>
            </a:r>
          </a:p>
          <a:p>
            <a:pPr>
              <a:spcAft>
                <a:spcPts val="12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2. Run automated Unit and ArchUnit tests:</a:t>
            </a:r>
            <a:br/>
            <a:r>
              <a:t>   $ mvn clean test</a:t>
            </a:r>
          </a:p>
          <a:p>
            <a:pPr>
              <a:spcAft>
                <a:spcPts val="12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3. Run the DB migration console simulation:</a:t>
            </a:r>
            <a:br/>
            <a:r>
              <a:t>   $ mvn compile exec:java -Dexec.mainClass="com.example.satellite.Main"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365D"/>
                </a:solidFill>
                <a:latin typeface="Arial"/>
              </a:defRPr>
            </a:pPr>
            <a:r>
              <a:t>Maintainability Benefits</a:t>
            </a:r>
          </a:p>
          <a:p>
            <a:pPr>
              <a:spcAft>
                <a:spcPts val="1200"/>
              </a:spcAft>
              <a:defRPr sz="1400">
                <a:solidFill>
                  <a:srgbClr val="319795"/>
                </a:solidFill>
                <a:latin typeface="Arial"/>
              </a:defRPr>
            </a:pPr>
            <a:r>
              <a:t>★ Testability: We can run fully mock repository tests without mock frameworks—just inject basic in-memory implementations.</a:t>
            </a:r>
          </a:p>
          <a:p>
            <a:pPr>
              <a:spcAft>
                <a:spcPts val="1200"/>
              </a:spcAft>
              <a:defRPr sz="1400">
                <a:solidFill>
                  <a:srgbClr val="319795"/>
                </a:solidFill>
                <a:latin typeface="Arial"/>
              </a:defRPr>
            </a:pPr>
            <a:r>
              <a:t>★ Safety: Build pipelines automatically reject illegal dependency loops or shortcuts that cause spaghetti code.</a:t>
            </a:r>
          </a:p>
          <a:p>
            <a:pPr>
              <a:spcAft>
                <a:spcPts val="1200"/>
              </a:spcAft>
              <a:defRPr sz="1400">
                <a:solidFill>
                  <a:srgbClr val="319795"/>
                </a:solidFill>
                <a:latin typeface="Arial"/>
              </a:defRPr>
            </a:pPr>
            <a:r>
              <a:t>★ Scalability: Switching vendors (Oracle DB to PostgreSQL, Cloud APIs, etc.) is isolated to the adapter, keeping core logic completely safe from regression.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